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CDC4"/>
              </a:solidFill>
              <a:ln w="12700" cap="flat">
                <a:solidFill>
                  <a:srgbClr val="1A1D2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6B4A"/>
              </a:solidFill>
              <a:ln w="12700" cap="flat">
                <a:solidFill>
                  <a:srgbClr val="1A1D2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D3340"/>
              </a:solidFill>
              <a:ln w="12700" cap="flat">
                <a:solidFill>
                  <a:srgbClr val="1A1D2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Express (60%)</c:v>
                </c:pt>
                <c:pt idx="1">
                  <c:v>Complete (30%)</c:v>
                </c:pt>
                <c:pt idx="2">
                  <c:v>Studio (10%)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0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Python Brain</c:v>
                  </c:pt>
                  <c:pt idx="1">
                    <c:v>C++ Shell</c:v>
                  </c:pt>
                  <c:pt idx="2">
                    <c:v>UI/UX</c:v>
                  </c:pt>
                  <c:pt idx="3">
                    <c:v>Integration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20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0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0F0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5283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61ff7b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8093" y="1376363"/>
            <a:ext cx="53678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Kelly MIDI Companion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471328" y="2138363"/>
            <a:ext cx="4201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Creative Co-Pilot for Emotional Expression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095750" y="2786063"/>
            <a:ext cx="952500" cy="28575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457152" y="3195638"/>
            <a:ext cx="4229546" cy="571500"/>
          </a:xfrm>
          <a:prstGeom prst="roundRect">
            <a:avLst>
              <a:gd name="adj" fmla="val 1066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76202" y="3195638"/>
            <a:ext cx="0" cy="57150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64234" y="3348038"/>
            <a:ext cx="3653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finish your art. We make you braver."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19549" y="4552950"/>
            <a:ext cx="2304901" cy="361950"/>
          </a:xfrm>
          <a:prstGeom prst="roundRect">
            <a:avLst>
              <a:gd name="adj" fmla="val 16842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00526" y="4638675"/>
            <a:ext cx="19429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Status: 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Pre-Alpha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6537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in AI Music Generation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1776413"/>
            <a:ext cx="3981450" cy="381000"/>
          </a:xfrm>
          <a:prstGeom prst="roundRect">
            <a:avLst>
              <a:gd name="adj" fmla="val 16000"/>
            </a:avLst>
          </a:prstGeom>
          <a:solidFill>
            <a:srgbClr val="2D33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871663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LANDSCAPE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150" y="2271713"/>
            <a:ext cx="3981450" cy="1724025"/>
          </a:xfrm>
          <a:prstGeom prst="roundRect">
            <a:avLst>
              <a:gd name="adj" fmla="val 3536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550" y="2424113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"Suno" Problem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0550" y="2728913"/>
            <a:ext cx="37501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tools act as "AI Jukeboxes" - you prompt, it generates a finished song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0550" y="3224213"/>
            <a:ext cx="3676650" cy="9525"/>
          </a:xfrm>
          <a:prstGeom prst="rect">
            <a:avLst/>
          </a:prstGeom>
          <a:solidFill>
            <a:srgbClr val="3D42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3348038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0550" y="3652838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"Audio production with no soul"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24400" y="1671638"/>
            <a:ext cx="3981450" cy="381000"/>
          </a:xfrm>
          <a:prstGeom prst="roundRect">
            <a:avLst>
              <a:gd name="adj" fmla="val 16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6800" y="1766888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166938"/>
            <a:ext cx="3981450" cy="1933575"/>
          </a:xfrm>
          <a:prstGeom prst="roundRect">
            <a:avLst>
              <a:gd name="adj" fmla="val 3153"/>
            </a:avLst>
          </a:prstGeom>
          <a:solidFill>
            <a:srgbClr val="252830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6325" y="2328863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Need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86325" y="2633663"/>
            <a:ext cx="37307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to express truth and authenticity, not just generate content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86325" y="3128963"/>
            <a:ext cx="3657600" cy="9525"/>
          </a:xfrm>
          <a:prstGeom prst="rect">
            <a:avLst/>
          </a:prstGeom>
          <a:solidFill>
            <a:srgbClr val="3D42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86325" y="325278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Gap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86325" y="3557588"/>
            <a:ext cx="37307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 for serious producers who make music to </a:t>
            </a:r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emotions</a:t>
            </a:r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rather than just have music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56738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Kelly: The Emotional MIDI Companion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1128713"/>
            <a:ext cx="3968353" cy="1409700"/>
          </a:xfrm>
          <a:prstGeom prst="roundRect">
            <a:avLst>
              <a:gd name="adj" fmla="val 43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300163"/>
            <a:ext cx="419100" cy="419100"/>
          </a:xfrm>
          <a:prstGeom prst="roundRect">
            <a:avLst>
              <a:gd name="adj" fmla="val 14545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6167" y="1376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1100" y="1376363"/>
            <a:ext cx="1389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1985963"/>
            <a:ext cx="36979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"Interrogate Before Generate" - the system asks about mood and intent before creating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58903" y="1128713"/>
            <a:ext cx="3968353" cy="1409700"/>
          </a:xfrm>
          <a:prstGeom prst="roundRect">
            <a:avLst>
              <a:gd name="adj" fmla="val 43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30353" y="1300163"/>
            <a:ext cx="419100" cy="419100"/>
          </a:xfrm>
          <a:prstGeom prst="roundRect">
            <a:avLst>
              <a:gd name="adj" fmla="val 14545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0429" y="1376363"/>
            <a:ext cx="1619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1853" y="1376363"/>
            <a:ext cx="932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30353" y="1985963"/>
            <a:ext cx="36979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editable MIDI building blocks (progressions, grooves) rather than finished audio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150" y="3233738"/>
            <a:ext cx="3968353" cy="1409700"/>
          </a:xfrm>
          <a:prstGeom prst="roundRect">
            <a:avLst>
              <a:gd name="adj" fmla="val 43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" y="3405188"/>
            <a:ext cx="419100" cy="419100"/>
          </a:xfrm>
          <a:prstGeom prst="roundRect">
            <a:avLst>
              <a:gd name="adj" fmla="val 14545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0202" y="3481388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1100" y="3481388"/>
            <a:ext cx="1389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Depth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9600" y="4090987"/>
            <a:ext cx="36979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216-node emotion thesaurus (Plutchik primaries + complex states like "bittersweet nostalgia")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8903" y="3233738"/>
            <a:ext cx="3968353" cy="1409700"/>
          </a:xfrm>
          <a:prstGeom prst="roundRect">
            <a:avLst>
              <a:gd name="adj" fmla="val 43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0353" y="3405188"/>
            <a:ext cx="419100" cy="419100"/>
          </a:xfrm>
          <a:prstGeom prst="roundRect">
            <a:avLst>
              <a:gd name="adj" fmla="val 14545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4241" y="3481388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1853" y="3481388"/>
            <a:ext cx="14967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Value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30353" y="4090987"/>
            <a:ext cx="36979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help users process trauma and emotion through the act of creation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57710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Don't Compete with AI Jukeboxes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150" y="4267200"/>
            <a:ext cx="3981450" cy="609600"/>
          </a:xfrm>
          <a:prstGeom prst="roundRect">
            <a:avLst>
              <a:gd name="adj" fmla="val 10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4267200"/>
            <a:ext cx="0" cy="60960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4381500"/>
            <a:ext cx="3672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7700" y="4572000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 is to Kelly as </a:t>
            </a:r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Midjourney is to Photoshop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4267200"/>
            <a:ext cx="3981450" cy="609600"/>
          </a:xfrm>
          <a:prstGeom prst="roundRect">
            <a:avLst>
              <a:gd name="adj" fmla="val 10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43450" y="4267200"/>
            <a:ext cx="0" cy="60960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3950" y="4381500"/>
            <a:ext cx="3672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EDGE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3950" y="4572000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copyright</a:t>
            </a:r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fully editable MIDI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150" y="819150"/>
          <a:ext cx="8267700" cy="3314700"/>
        </p:xfrm>
        <a:graphic>
          <a:graphicData uri="http://schemas.openxmlformats.org/drawingml/2006/table">
            <a:tbl>
              <a:tblPr/>
              <a:tblGrid>
                <a:gridCol w="2755900"/>
                <a:gridCol w="2755900"/>
                <a:gridCol w="275590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Suno / AI Jukeboxes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Casual users, content creators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Producers, songwriters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(30 seconds), convenience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Authenticity, creative process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Finished audio (locked)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Editable MIDI (flexible)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Ambiguous copyright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own it 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Highlights</a:t>
            </a:r>
            <a:endParaRPr lang="en-US" sz="2550" dirty="0"/>
          </a:p>
        </p:txBody>
      </p:sp>
      <p:pic>
        <p:nvPicPr>
          <p:cNvPr id="4" name="Image 0" descr="/tmp/rasterized-gradient-3f2272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838200"/>
            <a:ext cx="4057650" cy="1962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281113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Groove Engine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1776413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"Drunken Drummer" humanization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9600" y="2195513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Drags behind the beat for 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sadness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rushes ahead for 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</a:t>
            </a:r>
            <a:endParaRPr lang="en-US" sz="1050" dirty="0"/>
          </a:p>
        </p:txBody>
      </p:sp>
      <p:pic>
        <p:nvPicPr>
          <p:cNvPr id="8" name="Image 1" descr="/tmp/rasterized-gradient-d40757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838200"/>
            <a:ext cx="4057650" cy="1962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19650" y="1185863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Rule-Breaking System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19650" y="1681163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types of music theory breaks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819650" y="2100263"/>
            <a:ext cx="37890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interchange, unresolved tension - all 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justified by emotional intent</a:t>
            </a:r>
            <a:endParaRPr lang="en-US" sz="1050" dirty="0"/>
          </a:p>
        </p:txBody>
      </p:sp>
      <p:pic>
        <p:nvPicPr>
          <p:cNvPr id="12" name="Image 2" descr="/tmp/rasterized-gradient-66b2e6a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2952750"/>
            <a:ext cx="4057650" cy="1962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600" y="3395663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Input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9600" y="3890962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Tier feature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09600" y="4310063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heart rate mapping to 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arousal/intensity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parameters</a:t>
            </a:r>
            <a:endParaRPr lang="en-US" sz="1050" dirty="0"/>
          </a:p>
        </p:txBody>
      </p:sp>
      <p:pic>
        <p:nvPicPr>
          <p:cNvPr id="16" name="Image 3" descr="/tmp/rasterized-gradient-9aa9046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952750"/>
            <a:ext cx="4057650" cy="19621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19650" y="3300413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Synthesis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19650" y="3795713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ready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819650" y="4214813"/>
            <a:ext cx="37890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vocal melody generation with </a:t>
            </a:r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emotion-driven contours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Visualizing the Workflow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2181225"/>
            <a:ext cx="3584079" cy="1409700"/>
          </a:xfrm>
          <a:prstGeom prst="roundRect">
            <a:avLst>
              <a:gd name="adj" fmla="val 4324"/>
            </a:avLst>
          </a:prstGeom>
          <a:solidFill>
            <a:srgbClr val="252830"/>
          </a:solidFill>
          <a:ln w="19050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279557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689" y="2200275"/>
            <a:ext cx="1905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2989" y="2581275"/>
            <a:ext cx="381000" cy="381000"/>
          </a:xfrm>
          <a:prstGeom prst="roundRect">
            <a:avLst>
              <a:gd name="adj" fmla="val 39960000"/>
            </a:avLst>
          </a:prstGeom>
          <a:solidFill>
            <a:srgbClr val="1A1D23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06389" y="2581275"/>
            <a:ext cx="381000" cy="381000"/>
          </a:xfrm>
          <a:prstGeom prst="roundRect">
            <a:avLst>
              <a:gd name="adj" fmla="val 39960000"/>
            </a:avLst>
          </a:prstGeom>
          <a:solidFill>
            <a:srgbClr val="1A1D23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715542" y="3419475"/>
            <a:ext cx="1049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Cassette UI Mockup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27029" y="1066800"/>
            <a:ext cx="4378821" cy="1123950"/>
          </a:xfrm>
          <a:prstGeom prst="roundRect">
            <a:avLst>
              <a:gd name="adj" fmla="val 54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341316" y="1066800"/>
            <a:ext cx="0" cy="112395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7054" y="1200150"/>
            <a:ext cx="4087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Cassette Visual Design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27054" y="1676400"/>
            <a:ext cx="40874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tape reels with rotation and realistic textures. Retro aesthetic meets modern UX.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327029" y="2324100"/>
            <a:ext cx="4378821" cy="1123950"/>
          </a:xfrm>
          <a:prstGeom prst="roundRect">
            <a:avLst>
              <a:gd name="adj" fmla="val 54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341316" y="2324100"/>
            <a:ext cx="0" cy="1123950"/>
          </a:xfrm>
          <a:prstGeom prst="line">
            <a:avLst/>
          </a:prstGeom>
          <a:noFill/>
          <a:ln w="28575">
            <a:solidFill>
              <a:srgbClr val="4EC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7054" y="2457450"/>
            <a:ext cx="4087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Wheel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27054" y="2933700"/>
            <a:ext cx="40874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selector organized by 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valence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(angle) and 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arousal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(radius). 216 emotions at your fingertips.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327029" y="3581400"/>
            <a:ext cx="4378821" cy="1123950"/>
          </a:xfrm>
          <a:prstGeom prst="roundRect">
            <a:avLst>
              <a:gd name="adj" fmla="val 542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341316" y="3581400"/>
            <a:ext cx="0" cy="112395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7054" y="3714750"/>
            <a:ext cx="4087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A / Side B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7054" y="4191000"/>
            <a:ext cx="40874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your 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"Current State"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(Side A) and 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"Desired State"</a:t>
            </a:r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(Side B) to map the emotional journey.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Engine Architecture</a:t>
            </a:r>
            <a:endParaRPr lang="en-US" sz="2550" dirty="0"/>
          </a:p>
        </p:txBody>
      </p:sp>
      <p:pic>
        <p:nvPicPr>
          <p:cNvPr id="4" name="Image 0" descr="/tmp/rasterized-gradient-f01571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423988"/>
            <a:ext cx="2195661" cy="23717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656" y="1614488"/>
            <a:ext cx="1269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28291" y="2109788"/>
            <a:ext cx="423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8650" y="2566988"/>
            <a:ext cx="1814661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0503" y="2843213"/>
            <a:ext cx="18509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216-node emotion thesaurus, Intent processing, Complex logic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49982" y="3376613"/>
            <a:ext cx="971848" cy="228600"/>
          </a:xfrm>
          <a:prstGeom prst="roundRect">
            <a:avLst>
              <a:gd name="adj" fmla="val 2666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145232" y="3414713"/>
            <a:ext cx="796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Complete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886521" y="2124075"/>
            <a:ext cx="930920" cy="438150"/>
          </a:xfrm>
          <a:prstGeom prst="roundRect">
            <a:avLst>
              <a:gd name="adj" fmla="val 13913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010346" y="2209800"/>
            <a:ext cx="696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pybind11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237607" y="2752725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pic>
        <p:nvPicPr>
          <p:cNvPr id="14" name="Image 1" descr="/tmp/rasterized-gradient-0d9330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152" y="1423988"/>
            <a:ext cx="2195661" cy="23717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7358" y="1614488"/>
            <a:ext cx="1204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45372" y="2109788"/>
            <a:ext cx="1065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/ JUCE 8.0.4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260652" y="2566988"/>
            <a:ext cx="1814661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242505" y="2843213"/>
            <a:ext cx="18509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performance, DAW integration, Audio I/O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81984" y="3376613"/>
            <a:ext cx="971848" cy="228600"/>
          </a:xfrm>
          <a:prstGeom prst="roundRect">
            <a:avLst>
              <a:gd name="adj" fmla="val 26667"/>
            </a:avLst>
          </a:prstGeom>
          <a:solidFill>
            <a:srgbClr val="00000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77234" y="3414713"/>
            <a:ext cx="796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Complete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634907" y="245745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232749" y="1638300"/>
            <a:ext cx="1473250" cy="1943100"/>
          </a:xfrm>
          <a:prstGeom prst="roundRect">
            <a:avLst>
              <a:gd name="adj" fmla="val 4138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394674" y="1800225"/>
            <a:ext cx="11723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394674" y="2219325"/>
            <a:ext cx="1172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VST3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394674" y="2676525"/>
            <a:ext cx="1172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394674" y="3133725"/>
            <a:ext cx="1172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026468" y="3948112"/>
            <a:ext cx="7090916" cy="400050"/>
          </a:xfrm>
          <a:prstGeom prst="roundRect">
            <a:avLst>
              <a:gd name="adj" fmla="val 15238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226493" y="4052888"/>
            <a:ext cx="68246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Embedded Python via pybind11 enables rapid development while maintaining real-time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Revenue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150" y="1895475"/>
            <a:ext cx="1896963" cy="1962150"/>
          </a:xfrm>
          <a:prstGeom prst="roundRect">
            <a:avLst>
              <a:gd name="adj" fmla="val 321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95475"/>
            <a:ext cx="1896963" cy="723900"/>
          </a:xfrm>
          <a:prstGeom prst="rect">
            <a:avLst/>
          </a:prstGeom>
          <a:solidFill>
            <a:srgbClr val="2D33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150" y="2609850"/>
            <a:ext cx="1896963" cy="0"/>
          </a:xfrm>
          <a:prstGeom prst="line">
            <a:avLst/>
          </a:prstGeom>
          <a:noFill/>
          <a:ln w="19050">
            <a:solidFill>
              <a:srgbClr val="3D4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2009775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181225"/>
            <a:ext cx="16628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" y="2886075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core emotions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3095625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generation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3305175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Watermarked output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590925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 newcomers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87513" y="1905000"/>
            <a:ext cx="1896963" cy="1943100"/>
          </a:xfrm>
          <a:prstGeom prst="roundRect">
            <a:avLst>
              <a:gd name="adj" fmla="val 3214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tmp/rasterized-gradient-8a2318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513" y="1905000"/>
            <a:ext cx="1896963" cy="7048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620863" y="2019300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20863" y="2190750"/>
            <a:ext cx="16628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$10.99</a:t>
            </a:r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620863" y="2876550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emotions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20863" y="3086100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groove templates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20863" y="3295650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export, no watermark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620863" y="3581400"/>
            <a:ext cx="16628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36877" y="1781175"/>
            <a:ext cx="2056954" cy="2190750"/>
          </a:xfrm>
          <a:prstGeom prst="roundRect">
            <a:avLst>
              <a:gd name="adj" fmla="val 2964"/>
            </a:avLst>
          </a:prstGeom>
          <a:solidFill>
            <a:srgbClr val="252830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/tmp/rasterized-gradient-719978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927" y="1800225"/>
            <a:ext cx="2018854" cy="7048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89277" y="1914525"/>
            <a:ext cx="1787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689277" y="2085975"/>
            <a:ext cx="17871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$59.99</a:t>
            </a:r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one-time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689277" y="2771775"/>
            <a:ext cx="1787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theory controls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689277" y="2981325"/>
            <a:ext cx="1787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rule-breaking types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689277" y="3190875"/>
            <a:ext cx="1787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interrogation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689277" y="3400425"/>
            <a:ext cx="1787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use license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689277" y="3686175"/>
            <a:ext cx="1787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producers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746230" y="1790700"/>
            <a:ext cx="2054870" cy="2171700"/>
          </a:xfrm>
          <a:prstGeom prst="roundRect">
            <a:avLst>
              <a:gd name="adj" fmla="val 296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2" descr="/tmp/rasterized-gradient-bc38b1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230" y="1790700"/>
            <a:ext cx="2054870" cy="723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79580" y="1905000"/>
            <a:ext cx="1823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879580" y="2076450"/>
            <a:ext cx="18239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$159.99</a:t>
            </a:r>
            <a:pPr algn="l" indent="0" marL="0">
              <a:lnSpc>
                <a:spcPts val="24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one-time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879580" y="2781300"/>
            <a:ext cx="1823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license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879580" y="2990850"/>
            <a:ext cx="1823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input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879580" y="3200400"/>
            <a:ext cx="1823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coaching mode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879580" y="3409950"/>
            <a:ext cx="1823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seats included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879580" y="3695700"/>
            <a:ext cx="1823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and therapists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and Projections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150" y="1000125"/>
            <a:ext cx="3583335" cy="838200"/>
          </a:xfrm>
          <a:prstGeom prst="roundRect">
            <a:avLst>
              <a:gd name="adj" fmla="val 727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19062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501" y="1285875"/>
            <a:ext cx="388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0150" y="1114425"/>
            <a:ext cx="1685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0150" y="1400175"/>
            <a:ext cx="1685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results, not process"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00150" y="1571625"/>
            <a:ext cx="1685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creators, Suno refugees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150" y="1933575"/>
            <a:ext cx="3583335" cy="838200"/>
          </a:xfrm>
          <a:prstGeom prst="roundRect">
            <a:avLst>
              <a:gd name="adj" fmla="val 727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0550" y="212407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501" y="2219325"/>
            <a:ext cx="388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0150" y="2047875"/>
            <a:ext cx="1652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Users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0150" y="2333625"/>
            <a:ext cx="1652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make music to express truth"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00150" y="2505075"/>
            <a:ext cx="1652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artists, songwriters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150" y="2867025"/>
            <a:ext cx="3583335" cy="838200"/>
          </a:xfrm>
          <a:prstGeom prst="roundRect">
            <a:avLst>
              <a:gd name="adj" fmla="val 727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0550" y="305752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2D3340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501" y="3152775"/>
            <a:ext cx="388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0150" y="2981325"/>
            <a:ext cx="17627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Users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0150" y="3267075"/>
            <a:ext cx="17627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my profession"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00150" y="3438525"/>
            <a:ext cx="17627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producers, therapists</a:t>
            </a:r>
            <a:endParaRPr lang="en-US" sz="900" dirty="0"/>
          </a:p>
        </p:txBody>
      </p:sp>
      <p:pic>
        <p:nvPicPr>
          <p:cNvPr id="22" name="Image 0" descr="/tmp/rasterized-gradient-e67e49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3838575"/>
            <a:ext cx="3583335" cy="914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0075" y="3962400"/>
            <a:ext cx="33246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Projection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0075" y="4152900"/>
            <a:ext cx="33246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~$96,000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00075" y="4476750"/>
            <a:ext cx="33246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(mixed recurring + one-time)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326285" y="1234232"/>
          <a:ext cx="4379565" cy="328463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Launch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150" y="1466850"/>
            <a:ext cx="2654350" cy="1219200"/>
          </a:xfrm>
          <a:prstGeom prst="roundRect">
            <a:avLst>
              <a:gd name="adj" fmla="val 5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485900"/>
            <a:ext cx="26543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638300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1 - Jan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057400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Python-C++ bridge working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400300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I Found You Sleeping" test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4900" y="1466850"/>
            <a:ext cx="2654350" cy="1219200"/>
          </a:xfrm>
          <a:prstGeom prst="roundRect">
            <a:avLst>
              <a:gd name="adj" fmla="val 5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44900" y="1485900"/>
            <a:ext cx="265435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8250" y="1638300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2 - Feb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250" y="2057400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Cassette UI complete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78250" y="2400300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internal testing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51649" y="1466850"/>
            <a:ext cx="2654350" cy="1219200"/>
          </a:xfrm>
          <a:prstGeom prst="roundRect">
            <a:avLst>
              <a:gd name="adj" fmla="val 5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51649" y="1485900"/>
            <a:ext cx="26543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4999" y="1638300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3 - Mar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4999" y="2057400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and Family Alpha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84999" y="2400300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trusted testers</a:t>
            </a:r>
            <a:endParaRPr lang="en-US" sz="900" dirty="0"/>
          </a:p>
        </p:txBody>
      </p:sp>
      <p:pic>
        <p:nvPicPr>
          <p:cNvPr id="19" name="Image 0" descr="/tmp/rasterized-gradient-beae9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800350"/>
            <a:ext cx="7886700" cy="381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150" y="3009900"/>
            <a:ext cx="2653903" cy="1219200"/>
          </a:xfrm>
          <a:prstGeom prst="roundRect">
            <a:avLst>
              <a:gd name="adj" fmla="val 5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38150" y="3028950"/>
            <a:ext cx="2653903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" y="3181350"/>
            <a:ext cx="24349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4 - Apr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1500" y="3600450"/>
            <a:ext cx="24349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Beta begins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1500" y="3943350"/>
            <a:ext cx="24349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invite-only users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4453" y="3009900"/>
            <a:ext cx="2653903" cy="1219200"/>
          </a:xfrm>
          <a:prstGeom prst="roundRect">
            <a:avLst>
              <a:gd name="adj" fmla="val 5000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3244453" y="3028950"/>
            <a:ext cx="2653903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77803" y="3181350"/>
            <a:ext cx="24349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5 - May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377803" y="3600450"/>
            <a:ext cx="24349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expansion + polish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377803" y="3943350"/>
            <a:ext cx="24349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users, bug fixes</a:t>
            </a:r>
            <a:endParaRPr lang="en-US" sz="900" dirty="0"/>
          </a:p>
        </p:txBody>
      </p:sp>
      <p:pic>
        <p:nvPicPr>
          <p:cNvPr id="30" name="Image 1" descr="/tmp/rasterized-gradient-090912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756" y="2952750"/>
            <a:ext cx="2655094" cy="13335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203156" y="3105150"/>
            <a:ext cx="239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6 - Jun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203156" y="3524250"/>
            <a:ext cx="239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6203156" y="3981450"/>
            <a:ext cx="239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Gumroad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Ship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1114425"/>
            <a:ext cx="4379565" cy="742950"/>
          </a:xfrm>
          <a:prstGeom prst="roundRect">
            <a:avLst>
              <a:gd name="adj" fmla="val 8205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381000" cy="381000"/>
          </a:xfrm>
          <a:prstGeom prst="roundRect">
            <a:avLst>
              <a:gd name="adj" fmla="val 16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365945"/>
            <a:ext cx="21404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247775"/>
            <a:ext cx="2869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1533525"/>
            <a:ext cx="28697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lines total (~5,500 Python / ~1,500 C++)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150" y="1971675"/>
            <a:ext cx="4379565" cy="933450"/>
          </a:xfrm>
          <a:prstGeom prst="roundRect">
            <a:avLst>
              <a:gd name="adj" fmla="val 653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247900"/>
            <a:ext cx="323552" cy="381000"/>
          </a:xfrm>
          <a:prstGeom prst="roundRect">
            <a:avLst>
              <a:gd name="adj" fmla="val 18841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8827" y="2331690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85552" y="2105025"/>
            <a:ext cx="3631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Logic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5552" y="2390775"/>
            <a:ext cx="36319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"Brain" complete (Emotion API, Groove Engine, Intent Schema)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150" y="3019425"/>
            <a:ext cx="4379565" cy="762000"/>
          </a:xfrm>
          <a:prstGeom prst="roundRect">
            <a:avLst>
              <a:gd name="adj" fmla="val 8000"/>
            </a:avLst>
          </a:prstGeom>
          <a:solidFill>
            <a:srgbClr val="252830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125" y="3209925"/>
            <a:ext cx="381000" cy="381000"/>
          </a:xfrm>
          <a:prstGeom prst="roundRect">
            <a:avLst>
              <a:gd name="adj" fmla="val 16000"/>
            </a:avLst>
          </a:prstGeom>
          <a:solidFill>
            <a:srgbClr val="2D3340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" y="3280470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525" y="3162300"/>
            <a:ext cx="32791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Goal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525" y="3448050"/>
            <a:ext cx="32791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Python logic to C++ Plugin Shell via pybind11</a:t>
            </a:r>
            <a:endParaRPr lang="en-US" sz="1050" dirty="0"/>
          </a:p>
        </p:txBody>
      </p:sp>
      <p:pic>
        <p:nvPicPr>
          <p:cNvPr id="19" name="Image 0" descr="/tmp/rasterized-gradient-d59132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3895725"/>
            <a:ext cx="4379565" cy="762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9125" y="4086225"/>
            <a:ext cx="381000" cy="381000"/>
          </a:xfrm>
          <a:prstGeom prst="roundRect">
            <a:avLst>
              <a:gd name="adj" fmla="val 16000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99492" y="4170015"/>
            <a:ext cx="2246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52525" y="4038600"/>
            <a:ext cx="28024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152525" y="4324350"/>
            <a:ext cx="28024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Alpha in Logic Pro X within 2-4 weeks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122515" y="1542306"/>
          <a:ext cx="3583335" cy="26873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2073b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7894" y="991642"/>
            <a:ext cx="11282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050" dirty="0"/>
          </a:p>
        </p:txBody>
      </p:sp>
      <p:pic>
        <p:nvPicPr>
          <p:cNvPr id="4" name="Image 1" descr="/tmp/rasterized-gradient-8acfb6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86942"/>
            <a:ext cx="6858000" cy="13409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0762" y="1791742"/>
            <a:ext cx="6159627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"Kelly helps people become braver, not finish their art for them."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191000" y="3132683"/>
            <a:ext cx="762000" cy="28575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061150" y="3466058"/>
            <a:ext cx="5021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a </a:t>
            </a:r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companion</a:t>
            </a:r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a music tool.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632695" y="3885158"/>
            <a:ext cx="3878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for people who make music to </a:t>
            </a:r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life</a:t>
            </a:r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706118" y="4552950"/>
            <a:ext cx="1731615" cy="361950"/>
          </a:xfrm>
          <a:prstGeom prst="roundRect">
            <a:avLst>
              <a:gd name="adj" fmla="val 16842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853965" y="4638675"/>
            <a:ext cx="14359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MIDI Companion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Kelly MIDI Companion - Product Deck</dc:title>
  <dc:subject>Product Overview</dc:subject>
  <dc:creator>Kelly Team</dc:creator>
  <cp:lastModifiedBy>Kelly Team</cp:lastModifiedBy>
  <cp:revision>1</cp:revision>
  <dcterms:created xsi:type="dcterms:W3CDTF">2025-12-10T02:09:16Z</dcterms:created>
  <dcterms:modified xsi:type="dcterms:W3CDTF">2025-12-10T02:09:16Z</dcterms:modified>
</cp:coreProperties>
</file>