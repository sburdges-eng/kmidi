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3bace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52" y="1281113"/>
            <a:ext cx="22876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KELLY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2878315" y="2271713"/>
            <a:ext cx="33873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Co-Producer in the Session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000500" y="3071813"/>
            <a:ext cx="1143000" cy="28575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045757" y="3595688"/>
            <a:ext cx="30523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Strategy &amp; Funding Proposal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41732" y="4754910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38150" y="914400"/>
            <a:ext cx="8324850" cy="876300"/>
          </a:xfrm>
          <a:prstGeom prst="roundRect">
            <a:avLst>
              <a:gd name="adj" fmla="val 6957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0" cy="87630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850" y="1085850"/>
            <a:ext cx="798614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"Reduce friction between idea → arrangement → finished track, while preserving artistic control."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150" y="2019300"/>
            <a:ext cx="42456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co-producer built for real music workflows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8150" y="2400300"/>
            <a:ext cx="424567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Three-tier system from assistance to orchestration to generation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8150" y="3048000"/>
            <a:ext cx="424567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generic outputs — intelligent, contextual tools that understand your session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05375" y="2019300"/>
            <a:ext cx="3829348" cy="2324100"/>
          </a:xfrm>
          <a:prstGeom prst="roundRect">
            <a:avLst>
              <a:gd name="adj" fmla="val 2623"/>
            </a:avLst>
          </a:prstGeom>
          <a:solidFill>
            <a:srgbClr val="2D33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95875" y="2171700"/>
            <a:ext cx="35173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TIERS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95875" y="2438400"/>
            <a:ext cx="35173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Assistant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Fast wins, guidance, simple commands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95875" y="3048000"/>
            <a:ext cx="35173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Orchestration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Session control, routing, templates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95875" y="3657600"/>
            <a:ext cx="35173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Music Brain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Constrained generation &amp; refinement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lose momentum because...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38150" y="1295400"/>
            <a:ext cx="1952625" cy="3562350"/>
          </a:xfrm>
          <a:prstGeom prst="roundRect">
            <a:avLst>
              <a:gd name="adj" fmla="val 3122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8150" y="1309688"/>
            <a:ext cx="1952625" cy="0"/>
          </a:xfrm>
          <a:prstGeom prst="line">
            <a:avLst/>
          </a:prstGeom>
          <a:noFill/>
          <a:ln w="28575">
            <a:solidFill>
              <a:srgbClr val="FF6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8650" y="2157413"/>
            <a:ext cx="1603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28650" y="2767013"/>
            <a:ext cx="16030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 Complexity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8650" y="3262313"/>
            <a:ext cx="160305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gain staging, plugin management, templates, and repetitive tasks create friction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43175" y="1295400"/>
            <a:ext cx="1952625" cy="3562350"/>
          </a:xfrm>
          <a:prstGeom prst="roundRect">
            <a:avLst>
              <a:gd name="adj" fmla="val 3122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43175" y="1309688"/>
            <a:ext cx="1952625" cy="0"/>
          </a:xfrm>
          <a:prstGeom prst="line">
            <a:avLst/>
          </a:prstGeom>
          <a:noFill/>
          <a:ln w="28575">
            <a:solidFill>
              <a:srgbClr val="FF6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33675" y="2119313"/>
            <a:ext cx="1603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733675" y="2728913"/>
            <a:ext cx="160305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 Session Syndrome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33675" y="3490913"/>
            <a:ext cx="16030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decisions with no scaffolding — paralysis before creativity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8200" y="1295400"/>
            <a:ext cx="1952625" cy="3562350"/>
          </a:xfrm>
          <a:prstGeom prst="roundRect">
            <a:avLst>
              <a:gd name="adj" fmla="val 3122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8200" y="1309688"/>
            <a:ext cx="1952625" cy="0"/>
          </a:xfrm>
          <a:prstGeom prst="line">
            <a:avLst/>
          </a:prstGeom>
          <a:noFill/>
          <a:ln w="28575">
            <a:solidFill>
              <a:srgbClr val="FF6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8700" y="2157413"/>
            <a:ext cx="1603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4838700" y="2767013"/>
            <a:ext cx="16030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Gap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38700" y="3262313"/>
            <a:ext cx="160305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intent (emotion, arc, energy) is rarely captured as a control surface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53225" y="1295400"/>
            <a:ext cx="1952625" cy="3562350"/>
          </a:xfrm>
          <a:prstGeom prst="roundRect">
            <a:avLst>
              <a:gd name="adj" fmla="val 3122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753225" y="1309688"/>
            <a:ext cx="1952625" cy="0"/>
          </a:xfrm>
          <a:prstGeom prst="line">
            <a:avLst/>
          </a:prstGeom>
          <a:noFill/>
          <a:ln w="28575">
            <a:solidFill>
              <a:srgbClr val="FF6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3725" y="2252663"/>
            <a:ext cx="1603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943725" y="2862263"/>
            <a:ext cx="16030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Lives Outside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43725" y="3357563"/>
            <a:ext cx="16030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AI tools force copy/paste thinking and break creative flow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Kelly compresses the path from intent to audible result</a:t>
            </a:r>
            <a:endParaRPr lang="en-US" sz="1350" dirty="0"/>
          </a:p>
        </p:txBody>
      </p:sp>
      <p:pic>
        <p:nvPicPr>
          <p:cNvPr id="5" name="Image 0" descr="/tmp/rasterized-gradient-6d83fc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19250"/>
            <a:ext cx="25527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6750" y="1847850"/>
            <a:ext cx="457200" cy="457200"/>
          </a:xfrm>
          <a:prstGeom prst="roundRect">
            <a:avLst>
              <a:gd name="adj" fmla="val 1333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81050" y="191646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66750" y="2609850"/>
            <a:ext cx="2137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→ Scaffold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" y="3105150"/>
            <a:ext cx="21374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creative intent into session scaffolds: tempo, structure, instrumentation, routing templates</a:t>
            </a:r>
            <a:endParaRPr lang="en-US" sz="1050" dirty="0"/>
          </a:p>
        </p:txBody>
      </p:sp>
      <p:pic>
        <p:nvPicPr>
          <p:cNvPr id="10" name="Image 1" descr="/tmp/rasterized-gradient-49f55c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0" y="1619250"/>
            <a:ext cx="2552700" cy="2286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4250" y="1847850"/>
            <a:ext cx="457200" cy="457200"/>
          </a:xfrm>
          <a:prstGeom prst="roundRect">
            <a:avLst>
              <a:gd name="adj" fmla="val 13333"/>
            </a:avLst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657005" y="1916460"/>
            <a:ext cx="1953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524250" y="2609850"/>
            <a:ext cx="2137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Automation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24250" y="3105150"/>
            <a:ext cx="21374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repetitive workflow tasks safely — audition-first, reversible changes</a:t>
            </a:r>
            <a:endParaRPr lang="en-US" sz="1050" dirty="0"/>
          </a:p>
        </p:txBody>
      </p:sp>
      <p:pic>
        <p:nvPicPr>
          <p:cNvPr id="15" name="Image 2" descr="/tmp/rasterized-gradient-66151e0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1485900"/>
            <a:ext cx="2552700" cy="25527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81750" y="1714500"/>
            <a:ext cx="457200" cy="457200"/>
          </a:xfrm>
          <a:prstGeom prst="roundRect">
            <a:avLst>
              <a:gd name="adj" fmla="val 1333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524625" y="1783110"/>
            <a:ext cx="1748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♫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381750" y="2476500"/>
            <a:ext cx="21374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Generation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81750" y="3238500"/>
            <a:ext cx="21374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generation that respects constraints: style, instrumentation, difficulty, harmonic palette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38150" y="4419600"/>
            <a:ext cx="3283148" cy="438150"/>
          </a:xfrm>
          <a:prstGeom prst="roundRect">
            <a:avLst>
              <a:gd name="adj" fmla="val 13913"/>
            </a:avLst>
          </a:prstGeom>
          <a:solidFill>
            <a:srgbClr val="25283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38175" y="4543425"/>
            <a:ext cx="29407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Plugin (AU/VST3) — always in-session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026098" y="4419600"/>
            <a:ext cx="3609975" cy="438150"/>
          </a:xfrm>
          <a:prstGeom prst="roundRect">
            <a:avLst>
              <a:gd name="adj" fmla="val 13913"/>
            </a:avLst>
          </a:prstGeom>
          <a:solidFill>
            <a:srgbClr val="25283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226123" y="4543425"/>
            <a:ext cx="32741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Standalone app — onboarding &amp; learning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520750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Product: Three-Tier Implementation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38150" y="857250"/>
            <a:ext cx="2653903" cy="4057650"/>
          </a:xfrm>
          <a:prstGeom prst="roundRect">
            <a:avLst>
              <a:gd name="adj" fmla="val 2297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rasterized-gradient-6f3ef7d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495425"/>
            <a:ext cx="2653903" cy="800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8650" y="1647825"/>
            <a:ext cx="23183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8650" y="1838325"/>
            <a:ext cx="23183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8650" y="2600325"/>
            <a:ext cx="2272903" cy="11430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+ command palette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Explainers + guided templates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8650" y="3933825"/>
            <a:ext cx="23183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buNone/>
            </a:pPr>
            <a:r>
              <a:rPr lang="en-US" sz="105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"Fast wins for common tasks"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44453" y="857250"/>
            <a:ext cx="2653903" cy="4057650"/>
          </a:xfrm>
          <a:prstGeom prst="roundRect">
            <a:avLst>
              <a:gd name="adj" fmla="val 2297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tmp/rasterized-gradient-0b528cd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453" y="1343025"/>
            <a:ext cx="2653903" cy="8001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34953" y="1495425"/>
            <a:ext cx="23183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434953" y="1685925"/>
            <a:ext cx="23183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34953" y="2447925"/>
            <a:ext cx="2272903" cy="14478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graph engine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Template/preset management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macros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library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434953" y="4086225"/>
            <a:ext cx="23183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buNone/>
            </a:pPr>
            <a:r>
              <a:rPr lang="en-US" sz="105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"Control your entire session"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050756" y="857250"/>
            <a:ext cx="2654945" cy="4057650"/>
          </a:xfrm>
          <a:prstGeom prst="roundRect">
            <a:avLst>
              <a:gd name="adj" fmla="val 2296"/>
            </a:avLst>
          </a:prstGeom>
          <a:solidFill>
            <a:srgbClr val="252830"/>
          </a:solidFill>
          <a:ln w="19050">
            <a:solidFill>
              <a:srgbClr val="FF6B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/tmp/rasterized-gradient-d6ad2b0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806" y="1104900"/>
            <a:ext cx="2616845" cy="8191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0306" y="1257300"/>
            <a:ext cx="22805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260306" y="1447800"/>
            <a:ext cx="228056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Brain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260306" y="2228850"/>
            <a:ext cx="2235845" cy="17145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Harmony/rhythm generators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engine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Audition/refine/commit loop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synth layer (optional)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260306" y="4133850"/>
            <a:ext cx="22805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buNone/>
            </a:pPr>
            <a:r>
              <a:rPr lang="en-US" sz="105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"Generate, then refine to YOUR vision"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Customers</a:t>
            </a:r>
            <a:endParaRPr lang="en-US" sz="2700" dirty="0"/>
          </a:p>
        </p:txBody>
      </p:sp>
      <p:pic>
        <p:nvPicPr>
          <p:cNvPr id="4" name="Image 0" descr="/tmp/rasterized-gradient-d75cae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624013"/>
            <a:ext cx="3981450" cy="419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650" y="1738313"/>
            <a:ext cx="36724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SEGMENTS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38150" y="2195513"/>
            <a:ext cx="3981450" cy="1990725"/>
          </a:xfrm>
          <a:prstGeom prst="roundRect">
            <a:avLst>
              <a:gd name="adj" fmla="val 3062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28650" y="2386013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Producers &amp; Songwriters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8650" y="2690813"/>
            <a:ext cx="36724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output, limited time — need efficiency without sacrificing creativity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8650" y="3186113"/>
            <a:ext cx="3600450" cy="9525"/>
          </a:xfrm>
          <a:prstGeom prst="rect">
            <a:avLst/>
          </a:prstGeom>
          <a:solidFill>
            <a:srgbClr val="3D42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28650" y="3309938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8650" y="3614738"/>
            <a:ext cx="36724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consistent audio production for short-form, streaming, and brand content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24400" y="1614488"/>
            <a:ext cx="3981450" cy="438150"/>
          </a:xfrm>
          <a:prstGeom prst="roundRect">
            <a:avLst>
              <a:gd name="adj" fmla="val 13913"/>
            </a:avLst>
          </a:prstGeom>
          <a:solidFill>
            <a:srgbClr val="2D334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924425" y="1738313"/>
            <a:ext cx="3653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SEGMENTS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24400" y="2205038"/>
            <a:ext cx="3981450" cy="1990725"/>
          </a:xfrm>
          <a:prstGeom prst="roundRect">
            <a:avLst>
              <a:gd name="adj" fmla="val 3062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14900" y="2395538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914900" y="2700338"/>
            <a:ext cx="36724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Assistants + workflow standardization across projects and team members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14900" y="3195638"/>
            <a:ext cx="3600450" cy="9525"/>
          </a:xfrm>
          <a:prstGeom prst="rect">
            <a:avLst/>
          </a:prstGeom>
          <a:solidFill>
            <a:srgbClr val="3D42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14900" y="3319463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Educators &amp; Students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914900" y="3624263"/>
            <a:ext cx="36724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by doing — guided sessions accelerate skill development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 &amp; Messaging</a:t>
            </a:r>
            <a:endParaRPr lang="en-US" sz="2550" dirty="0"/>
          </a:p>
        </p:txBody>
      </p:sp>
      <p:pic>
        <p:nvPicPr>
          <p:cNvPr id="4" name="Image 0" descr="/tmp/rasterized-gradient-e81964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857250"/>
            <a:ext cx="8267700" cy="1181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2950" y="1047750"/>
            <a:ext cx="78501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STATEMENT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42950" y="1276350"/>
            <a:ext cx="785012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"Kelly is a co-producer that lives inside your workflow: it turns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into a session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a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into a song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without taking away control."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38150" y="2466975"/>
            <a:ext cx="1952625" cy="1657350"/>
          </a:xfrm>
          <a:prstGeom prst="roundRect">
            <a:avLst>
              <a:gd name="adj" fmla="val 3678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0550" y="2619375"/>
            <a:ext cx="16807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590550" y="3209925"/>
            <a:ext cx="16807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90550" y="3667125"/>
            <a:ext cx="16807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track faster by removing friction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43175" y="2466975"/>
            <a:ext cx="1952625" cy="1657350"/>
          </a:xfrm>
          <a:prstGeom prst="roundRect">
            <a:avLst>
              <a:gd name="adj" fmla="val 3678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695575" y="2619375"/>
            <a:ext cx="16807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🎛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2695575" y="3209925"/>
            <a:ext cx="16807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695575" y="3667125"/>
            <a:ext cx="16807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Audition-first, reversible edits, constraints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48200" y="2466975"/>
            <a:ext cx="1952625" cy="1657350"/>
          </a:xfrm>
          <a:prstGeom prst="roundRect">
            <a:avLst>
              <a:gd name="adj" fmla="val 3678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00600" y="2619375"/>
            <a:ext cx="16807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4800600" y="3209925"/>
            <a:ext cx="16807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800600" y="3667125"/>
            <a:ext cx="16807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session graph, not just text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753225" y="2466975"/>
            <a:ext cx="1952625" cy="1657350"/>
          </a:xfrm>
          <a:prstGeom prst="roundRect">
            <a:avLst>
              <a:gd name="adj" fmla="val 3678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905625" y="2619375"/>
            <a:ext cx="16807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6905625" y="3209925"/>
            <a:ext cx="16807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905625" y="3667125"/>
            <a:ext cx="16807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and arc become real parameters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6502" y="4552950"/>
            <a:ext cx="2326184" cy="361950"/>
          </a:xfrm>
          <a:prstGeom prst="roundRect">
            <a:avLst>
              <a:gd name="adj" fmla="val 16842"/>
            </a:avLst>
          </a:prstGeom>
          <a:solidFill>
            <a:srgbClr val="2D334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228427" y="4638675"/>
            <a:ext cx="20423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co-producer in the session."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545086" y="4552950"/>
            <a:ext cx="2004566" cy="361950"/>
          </a:xfrm>
          <a:prstGeom prst="roundRect">
            <a:avLst>
              <a:gd name="adj" fmla="val 16842"/>
            </a:avLst>
          </a:prstGeom>
          <a:solidFill>
            <a:srgbClr val="2D334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707011" y="4638675"/>
            <a:ext cx="1714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intent to track, faster."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702052" y="4552950"/>
            <a:ext cx="2375446" cy="361950"/>
          </a:xfrm>
          <a:prstGeom prst="roundRect">
            <a:avLst>
              <a:gd name="adj" fmla="val 16842"/>
            </a:avLst>
          </a:prstGeom>
          <a:solidFill>
            <a:srgbClr val="2D334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863977" y="4638675"/>
            <a:ext cx="20926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"Stop menu-diving. Start finishing."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38150" y="1304925"/>
            <a:ext cx="36550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TYPICALLY FALL INTO: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38150" y="1609725"/>
            <a:ext cx="3583335" cy="876300"/>
          </a:xfrm>
          <a:prstGeom prst="roundRect">
            <a:avLst>
              <a:gd name="adj" fmla="val 6957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2438" y="1609725"/>
            <a:ext cx="0" cy="876300"/>
          </a:xfrm>
          <a:prstGeom prst="line">
            <a:avLst/>
          </a:prstGeom>
          <a:noFill/>
          <a:ln w="28575">
            <a:solidFill>
              <a:srgbClr val="FF6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175" y="1743075"/>
            <a:ext cx="32760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Prompt-to-Music Generators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8175" y="2200275"/>
            <a:ext cx="32760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DAW context, no session integration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150" y="2600325"/>
            <a:ext cx="3583335" cy="876300"/>
          </a:xfrm>
          <a:prstGeom prst="roundRect">
            <a:avLst>
              <a:gd name="adj" fmla="val 6957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2438" y="2600325"/>
            <a:ext cx="0" cy="876300"/>
          </a:xfrm>
          <a:prstGeom prst="line">
            <a:avLst/>
          </a:prstGeom>
          <a:noFill/>
          <a:ln w="28575">
            <a:solidFill>
              <a:srgbClr val="FF6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175" y="2733675"/>
            <a:ext cx="32760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 Tools / Assistant Plugins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8175" y="3190875"/>
            <a:ext cx="32760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 but shallow — limited scope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150" y="3590925"/>
            <a:ext cx="3583335" cy="876300"/>
          </a:xfrm>
          <a:prstGeom prst="roundRect">
            <a:avLst>
              <a:gd name="adj" fmla="val 6957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2438" y="3590925"/>
            <a:ext cx="0" cy="876300"/>
          </a:xfrm>
          <a:prstGeom prst="line">
            <a:avLst/>
          </a:prstGeom>
          <a:noFill/>
          <a:ln w="28575">
            <a:solidFill>
              <a:srgbClr val="FF6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175" y="3724275"/>
            <a:ext cx="32760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Template Ecosystems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8175" y="4181475"/>
            <a:ext cx="32760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not adaptive or intelligent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26285" y="1714500"/>
            <a:ext cx="44671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KELLY'S DIFFERENTIATOR:</a:t>
            </a:r>
            <a:endParaRPr lang="en-US" sz="1050" dirty="0"/>
          </a:p>
        </p:txBody>
      </p:sp>
      <p:pic>
        <p:nvPicPr>
          <p:cNvPr id="18" name="Image 0" descr="/tmp/rasterized-gradient-15369f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6285" y="2019300"/>
            <a:ext cx="4379565" cy="20383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35835" y="2276475"/>
            <a:ext cx="342900" cy="342900"/>
          </a:xfrm>
          <a:prstGeom prst="roundRect">
            <a:avLst>
              <a:gd name="adj" fmla="val 17778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659511" y="2327970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031135" y="2228850"/>
            <a:ext cx="1956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Adoption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031135" y="2514600"/>
            <a:ext cx="19569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simple, grow into power features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35835" y="2867025"/>
            <a:ext cx="342900" cy="342900"/>
          </a:xfrm>
          <a:prstGeom prst="roundRect">
            <a:avLst>
              <a:gd name="adj" fmla="val 17778"/>
            </a:avLst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659511" y="2918520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031135" y="2819400"/>
            <a:ext cx="214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Graph Control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031135" y="3105150"/>
            <a:ext cx="214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tracks, routing, relationships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35835" y="3457575"/>
            <a:ext cx="342900" cy="342900"/>
          </a:xfrm>
          <a:prstGeom prst="roundRect">
            <a:avLst>
              <a:gd name="adj" fmla="val 17778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659511" y="3509070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5031135" y="3409950"/>
            <a:ext cx="17175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System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031135" y="3695700"/>
            <a:ext cx="17175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and arc drive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Go-to-Market: Phase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571500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3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0-6: Creator Beta</a:t>
            </a:r>
            <a:endParaRPr lang="en-US" sz="1350" dirty="0"/>
          </a:p>
        </p:txBody>
      </p:sp>
      <p:pic>
        <p:nvPicPr>
          <p:cNvPr id="5" name="Image 0" descr="/tmp/rasterized-gradient-6f42d49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123950"/>
            <a:ext cx="3981450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1257300"/>
            <a:ext cx="37113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9600" y="1485900"/>
            <a:ext cx="37113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activation + retention with small cohort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38150" y="2000250"/>
            <a:ext cx="3981450" cy="1771650"/>
          </a:xfrm>
          <a:prstGeom prst="roundRect">
            <a:avLst>
              <a:gd name="adj" fmla="val 3441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09600" y="2152650"/>
            <a:ext cx="37113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9600" y="2438400"/>
            <a:ext cx="363855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50-200 producers via communities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demos: "scaffold in 30 seconds"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shipping + public changelog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DAW, one flagship workflow first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38150" y="3886200"/>
            <a:ext cx="3981450" cy="1028700"/>
          </a:xfrm>
          <a:prstGeom prst="roundRect">
            <a:avLst>
              <a:gd name="adj" fmla="val 5926"/>
            </a:avLst>
          </a:prstGeom>
          <a:solidFill>
            <a:srgbClr val="252830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19125" y="4029075"/>
            <a:ext cx="3691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METRIC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9125" y="4391025"/>
            <a:ext cx="36918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who create scaffolded session and commit idea within 10 min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24400" y="2219325"/>
            <a:ext cx="40610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24400" y="2524125"/>
            <a:ext cx="1772096" cy="571500"/>
          </a:xfrm>
          <a:prstGeom prst="roundRect">
            <a:avLst>
              <a:gd name="adj" fmla="val 10667"/>
            </a:avLst>
          </a:prstGeom>
          <a:solidFill>
            <a:srgbClr val="2D334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67275" y="2628900"/>
            <a:ext cx="15160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communities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67275" y="2838450"/>
            <a:ext cx="15160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Forums, Discords, subreddits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648896" y="2524125"/>
            <a:ext cx="1372344" cy="571500"/>
          </a:xfrm>
          <a:prstGeom prst="roundRect">
            <a:avLst>
              <a:gd name="adj" fmla="val 10667"/>
            </a:avLst>
          </a:prstGeom>
          <a:solidFill>
            <a:srgbClr val="2D334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791771" y="2628900"/>
            <a:ext cx="1108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Short-form demos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791771" y="2838450"/>
            <a:ext cx="11083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video content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24400" y="3248025"/>
            <a:ext cx="1424136" cy="571500"/>
          </a:xfrm>
          <a:prstGeom prst="roundRect">
            <a:avLst>
              <a:gd name="adj" fmla="val 10667"/>
            </a:avLst>
          </a:prstGeom>
          <a:solidFill>
            <a:srgbClr val="2D334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867275" y="3352800"/>
            <a:ext cx="11611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Micro-influencers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67275" y="3562350"/>
            <a:ext cx="11611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 + early access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300936" y="3248025"/>
            <a:ext cx="1562695" cy="571500"/>
          </a:xfrm>
          <a:prstGeom prst="roundRect">
            <a:avLst>
              <a:gd name="adj" fmla="val 10667"/>
            </a:avLst>
          </a:prstGeom>
          <a:solidFill>
            <a:srgbClr val="2D334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443811" y="3352800"/>
            <a:ext cx="13024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443811" y="3562350"/>
            <a:ext cx="1302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Use-case focused emails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Go-to-Market: Phases 2 and 3</a:t>
            </a:r>
            <a:endParaRPr lang="en-US" sz="2400" dirty="0"/>
          </a:p>
        </p:txBody>
      </p:sp>
      <p:pic>
        <p:nvPicPr>
          <p:cNvPr id="4" name="Image 0" descr="/tmp/rasterized-gradient-2d615a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371600"/>
            <a:ext cx="3981450" cy="666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485900"/>
            <a:ext cx="37113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09600" y="1657350"/>
            <a:ext cx="37113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6-12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38150" y="2305050"/>
            <a:ext cx="3981450" cy="2076450"/>
          </a:xfrm>
          <a:prstGeom prst="roundRect">
            <a:avLst>
              <a:gd name="adj" fmla="val 2936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9600" y="2457450"/>
            <a:ext cx="37113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+ PARTNERSHIPS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9600" y="2743200"/>
            <a:ext cx="363855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sample pack and plugin creators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recipe library + sharing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"One-click sound chains" as add-ons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packs for purchase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Educational: workshops + schools</a:t>
            </a:r>
            <a:endParaRPr lang="en-US" sz="1350" dirty="0"/>
          </a:p>
        </p:txBody>
      </p:sp>
      <p:pic>
        <p:nvPicPr>
          <p:cNvPr id="10" name="Image 1" descr="/tmp/rasterized-gradient-f936768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371600"/>
            <a:ext cx="3981450" cy="666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5850" y="1485900"/>
            <a:ext cx="37113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895850" y="1657350"/>
            <a:ext cx="37113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12+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24400" y="2305050"/>
            <a:ext cx="3981450" cy="2076450"/>
          </a:xfrm>
          <a:prstGeom prst="roundRect">
            <a:avLst>
              <a:gd name="adj" fmla="val 2936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895850" y="2457450"/>
            <a:ext cx="37113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+ PRO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95850" y="2743200"/>
            <a:ext cx="363855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User-published recipe marketplace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share model for creators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collaboration features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standardization tools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packs for organizations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38150" y="4591050"/>
            <a:ext cx="8267700" cy="361950"/>
          </a:xfrm>
          <a:prstGeom prst="roundRect">
            <a:avLst>
              <a:gd name="adj" fmla="val 16842"/>
            </a:avLst>
          </a:prstGeom>
          <a:solidFill>
            <a:srgbClr val="2D334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00075" y="4695825"/>
            <a:ext cx="11342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</a:t>
            </a:r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onboarding flows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039814" y="4695825"/>
            <a:ext cx="1125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</a:t>
            </a:r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Weekly challenges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470922" y="4695825"/>
            <a:ext cx="8986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</a:t>
            </a:r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Affiliate vs ads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679680" y="4695825"/>
            <a:ext cx="8812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</a:t>
            </a:r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Recipe virality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Monetization and Pricing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38150" y="1828800"/>
            <a:ext cx="1951881" cy="2114550"/>
          </a:xfrm>
          <a:prstGeom prst="roundRect">
            <a:avLst>
              <a:gd name="adj" fmla="val 3123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828800"/>
            <a:ext cx="1951881" cy="781050"/>
          </a:xfrm>
          <a:prstGeom prst="rect">
            <a:avLst/>
          </a:prstGeom>
          <a:solidFill>
            <a:srgbClr val="2D33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8150" y="2600325"/>
            <a:ext cx="1951881" cy="0"/>
          </a:xfrm>
          <a:prstGeom prst="line">
            <a:avLst/>
          </a:prstGeom>
          <a:noFill/>
          <a:ln w="19050">
            <a:solidFill>
              <a:srgbClr val="3D42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0550" y="1962150"/>
            <a:ext cx="16800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0550" y="2152650"/>
            <a:ext cx="16800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0550" y="2895600"/>
            <a:ext cx="1647081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assistant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templates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0550" y="3619500"/>
            <a:ext cx="1680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42431" y="1533525"/>
            <a:ext cx="1953964" cy="2705100"/>
          </a:xfrm>
          <a:prstGeom prst="roundRect">
            <a:avLst>
              <a:gd name="adj" fmla="val 3120"/>
            </a:avLst>
          </a:prstGeom>
          <a:solidFill>
            <a:srgbClr val="252830"/>
          </a:solidFill>
          <a:ln w="19050">
            <a:solidFill>
              <a:srgbClr val="FF6B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0" descr="/tmp/rasterized-gradient-f4972e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1481" y="1552575"/>
            <a:ext cx="1915864" cy="762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713881" y="1685925"/>
            <a:ext cx="16432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PRO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13881" y="1876425"/>
            <a:ext cx="16432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$15-30</a:t>
            </a:r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713881" y="2600325"/>
            <a:ext cx="1611064" cy="11430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orchestration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recipe library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templates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713881" y="3895725"/>
            <a:ext cx="16432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offering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48795" y="1552575"/>
            <a:ext cx="1951881" cy="2667000"/>
          </a:xfrm>
          <a:prstGeom prst="roundRect">
            <a:avLst>
              <a:gd name="adj" fmla="val 3123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1" descr="/tmp/rasterized-gradient-82acd91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795" y="1552575"/>
            <a:ext cx="1951881" cy="7620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01195" y="1685925"/>
            <a:ext cx="16800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01195" y="1876425"/>
            <a:ext cx="16800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$49-99</a:t>
            </a:r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801195" y="2600325"/>
            <a:ext cx="1647081" cy="11430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tools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templates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automation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4801195" y="3895725"/>
            <a:ext cx="1680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and studios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753076" y="1557338"/>
            <a:ext cx="1952923" cy="2657475"/>
          </a:xfrm>
          <a:prstGeom prst="roundRect">
            <a:avLst>
              <a:gd name="adj" fmla="val 3121"/>
            </a:avLst>
          </a:prstGeom>
          <a:solidFill>
            <a:srgbClr val="2D334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0"/>
          <p:cNvSpPr/>
          <p:nvPr/>
        </p:nvSpPr>
        <p:spPr>
          <a:xfrm>
            <a:off x="6762601" y="2295525"/>
            <a:ext cx="1933873" cy="0"/>
          </a:xfrm>
          <a:prstGeom prst="line">
            <a:avLst/>
          </a:prstGeom>
          <a:noFill/>
          <a:ln w="9525">
            <a:solidFill>
              <a:srgbClr val="3D424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15001" y="1700213"/>
            <a:ext cx="16616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ADD-ONS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915001" y="1890713"/>
            <a:ext cx="16616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carte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6915001" y="2586038"/>
            <a:ext cx="1629073" cy="11430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packs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synth expansions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recipes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6915001" y="3881438"/>
            <a:ext cx="16616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i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revenue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Funding Proposal</a:t>
            </a:r>
            <a:endParaRPr lang="en-US" sz="2550" dirty="0"/>
          </a:p>
        </p:txBody>
      </p:sp>
      <p:pic>
        <p:nvPicPr>
          <p:cNvPr id="4" name="Image 0" descr="/tmp/rasterized-gradient-0cda15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" y="1095375"/>
            <a:ext cx="3185071" cy="1790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343025"/>
            <a:ext cx="27435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/ SEED ROUND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85800" y="1762125"/>
            <a:ext cx="274356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$____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85800" y="2371725"/>
            <a:ext cx="27435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runway: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18–24 months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8150" y="3038475"/>
            <a:ext cx="3185071" cy="1638300"/>
          </a:xfrm>
          <a:prstGeom prst="roundRect">
            <a:avLst>
              <a:gd name="adj" fmla="val 3721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28650" y="3190875"/>
            <a:ext cx="28601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(TO FILL)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8650" y="3457575"/>
            <a:ext cx="28601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Founder/Builder: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_______________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8650" y="4143375"/>
            <a:ext cx="28601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hires: audio/plugin engineer, frontend/product, creative systems, growth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928021" y="1114425"/>
            <a:ext cx="48733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928021" y="1419225"/>
            <a:ext cx="4777829" cy="723900"/>
          </a:xfrm>
          <a:prstGeom prst="roundRect">
            <a:avLst>
              <a:gd name="adj" fmla="val 8421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099471" y="1552575"/>
            <a:ext cx="457200" cy="457200"/>
          </a:xfrm>
          <a:prstGeom prst="roundRect">
            <a:avLst>
              <a:gd name="adj" fmla="val 13333"/>
            </a:avLst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137422" y="1647825"/>
            <a:ext cx="388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709071" y="1562100"/>
            <a:ext cx="25489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709071" y="1847850"/>
            <a:ext cx="25489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Plugin/DAW integration, orchestration engine, UX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28021" y="2257425"/>
            <a:ext cx="4777829" cy="723900"/>
          </a:xfrm>
          <a:prstGeom prst="roundRect">
            <a:avLst>
              <a:gd name="adj" fmla="val 8421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099471" y="2390775"/>
            <a:ext cx="457200" cy="457200"/>
          </a:xfrm>
          <a:prstGeom prst="roundRect">
            <a:avLst>
              <a:gd name="adj" fmla="val 1333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137422" y="2486025"/>
            <a:ext cx="388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709071" y="2400300"/>
            <a:ext cx="2257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Systems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709071" y="2686050"/>
            <a:ext cx="22573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quality + model iteration + constraints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928021" y="3095625"/>
            <a:ext cx="4777829" cy="723900"/>
          </a:xfrm>
          <a:prstGeom prst="roundRect">
            <a:avLst>
              <a:gd name="adj" fmla="val 8421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099471" y="3228975"/>
            <a:ext cx="457200" cy="457200"/>
          </a:xfrm>
          <a:prstGeom prst="roundRect">
            <a:avLst>
              <a:gd name="adj" fmla="val 13333"/>
            </a:avLst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137422" y="3324225"/>
            <a:ext cx="388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709071" y="3238500"/>
            <a:ext cx="23976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709071" y="3524250"/>
            <a:ext cx="2397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marketing, partnerships, beta program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928021" y="3933825"/>
            <a:ext cx="4777829" cy="723900"/>
          </a:xfrm>
          <a:prstGeom prst="roundRect">
            <a:avLst>
              <a:gd name="adj" fmla="val 8421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099471" y="4067175"/>
            <a:ext cx="457200" cy="457200"/>
          </a:xfrm>
          <a:prstGeom prst="roundRect">
            <a:avLst>
              <a:gd name="adj" fmla="val 13333"/>
            </a:avLst>
          </a:prstGeom>
          <a:solidFill>
            <a:srgbClr val="2D334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190405" y="4162425"/>
            <a:ext cx="280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709071" y="4076700"/>
            <a:ext cx="16654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Ops/Legal/Tooling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4709071" y="4362450"/>
            <a:ext cx="16654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and administrative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Milestones This Round Buys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38150" y="895350"/>
            <a:ext cx="1952030" cy="3286125"/>
          </a:xfrm>
          <a:prstGeom prst="roundRect">
            <a:avLst>
              <a:gd name="adj" fmla="val 3123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8150" y="914400"/>
            <a:ext cx="195203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800100"/>
            <a:ext cx="476399" cy="228600"/>
          </a:xfrm>
          <a:prstGeom prst="roundRect">
            <a:avLst>
              <a:gd name="adj" fmla="val 2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838200"/>
            <a:ext cx="252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2100263"/>
            <a:ext cx="16413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+ Templates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2595563"/>
            <a:ext cx="16413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DAW integration working. Assistant commands functional.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42580" y="895350"/>
            <a:ext cx="1952030" cy="3286125"/>
          </a:xfrm>
          <a:prstGeom prst="roundRect">
            <a:avLst>
              <a:gd name="adj" fmla="val 3123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42580" y="914400"/>
            <a:ext cx="195203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4030" y="800100"/>
            <a:ext cx="531316" cy="228600"/>
          </a:xfrm>
          <a:prstGeom prst="roundRect">
            <a:avLst>
              <a:gd name="adj" fmla="val 26667"/>
            </a:avLst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28330" y="838200"/>
            <a:ext cx="308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14030" y="1966912"/>
            <a:ext cx="164131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Orchestration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714030" y="2728913"/>
            <a:ext cx="16413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graph control. Recipe save/share. Automation macros.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47009" y="895350"/>
            <a:ext cx="1952030" cy="3286125"/>
          </a:xfrm>
          <a:prstGeom prst="roundRect">
            <a:avLst>
              <a:gd name="adj" fmla="val 3123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47009" y="914400"/>
            <a:ext cx="195203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459" y="800100"/>
            <a:ext cx="368498" cy="228600"/>
          </a:xfrm>
          <a:prstGeom prst="roundRect">
            <a:avLst>
              <a:gd name="adj" fmla="val 2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32759" y="838200"/>
            <a:ext cx="1426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A1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18459" y="2100263"/>
            <a:ext cx="16413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Generation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18459" y="2595563"/>
            <a:ext cx="16413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generation. Refine/commit loop. Full Music Brain.</a:t>
            </a:r>
            <a:endParaRPr lang="en-US" sz="1050" dirty="0"/>
          </a:p>
        </p:txBody>
      </p:sp>
      <p:pic>
        <p:nvPicPr>
          <p:cNvPr id="22" name="Image 0" descr="/tmp/rasterized-gradient-4e3def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1439" y="895350"/>
            <a:ext cx="1954560" cy="328612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941939" y="781050"/>
            <a:ext cx="781199" cy="228600"/>
          </a:xfrm>
          <a:prstGeom prst="roundRect">
            <a:avLst>
              <a:gd name="adj" fmla="val 26667"/>
            </a:avLst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056239" y="819150"/>
            <a:ext cx="5636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1939" y="2081212"/>
            <a:ext cx="16050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Creator Tier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941939" y="2576513"/>
            <a:ext cx="160503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paying customers. Add-on packs launched. Sustainable path.</a:t>
            </a:r>
            <a:endParaRPr lang="en-US" sz="1050" dirty="0"/>
          </a:p>
        </p:txBody>
      </p:sp>
      <p:pic>
        <p:nvPicPr>
          <p:cNvPr id="27" name="Image 1" descr="/tmp/rasterized-gradient-c4c8688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4333875"/>
            <a:ext cx="7505700" cy="2857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16471" y="4514850"/>
            <a:ext cx="3663702" cy="400050"/>
          </a:xfrm>
          <a:prstGeom prst="roundRect">
            <a:avLst>
              <a:gd name="adj" fmla="val 15238"/>
            </a:avLst>
          </a:prstGeom>
          <a:solidFill>
            <a:srgbClr val="25283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1016496" y="4619625"/>
            <a:ext cx="3328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WAU/MAU, Activation %, Retention, Conversion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784973" y="4514850"/>
            <a:ext cx="3542407" cy="400050"/>
          </a:xfrm>
          <a:prstGeom prst="roundRect">
            <a:avLst>
              <a:gd name="adj" fmla="val 15238"/>
            </a:avLst>
          </a:prstGeom>
          <a:solidFill>
            <a:srgbClr val="252830"/>
          </a:solidFill>
          <a:ln w="9525">
            <a:solidFill>
              <a:srgbClr val="3D4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984998" y="4619625"/>
            <a:ext cx="32052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Compute cost per user, Recipe sharing rate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4b72d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60528" y="709613"/>
            <a:ext cx="202264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6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KELLY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190851" y="1700213"/>
            <a:ext cx="762000" cy="28575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904125" y="2109788"/>
            <a:ext cx="333545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intent to track, faster.
</a:t>
            </a:r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co-producer in the session.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109341" y="3328988"/>
            <a:ext cx="1373386" cy="1104900"/>
          </a:xfrm>
          <a:prstGeom prst="roundRect">
            <a:avLst>
              <a:gd name="adj" fmla="val 5517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714970" y="3519488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367641" y="4052888"/>
            <a:ext cx="856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 of power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787527" y="3328988"/>
            <a:ext cx="1371005" cy="1104900"/>
          </a:xfrm>
          <a:prstGeom prst="roundRect">
            <a:avLst>
              <a:gd name="adj" fmla="val 5517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100198" y="3519488"/>
            <a:ext cx="7455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18-24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4045851" y="4052888"/>
            <a:ext cx="8543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runway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63332" y="3328988"/>
            <a:ext cx="1571179" cy="1104900"/>
          </a:xfrm>
          <a:prstGeom prst="roundRect">
            <a:avLst>
              <a:gd name="adj" fmla="val 5517"/>
            </a:avLst>
          </a:prstGeom>
          <a:solidFill>
            <a:srgbClr val="2528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145011" y="3519488"/>
            <a:ext cx="2078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5719654" y="4052888"/>
            <a:ext cx="10585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potential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41732" y="472827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A8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talk. </a:t>
            </a:r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[contact info]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Kelly - Marketing Strategy &amp; Funding Proposal</dc:title>
  <dc:subject>Funding Deck</dc:subject>
  <dc:creator>Kelly Team</dc:creator>
  <cp:lastModifiedBy>Kelly Team</cp:lastModifiedBy>
  <cp:revision>1</cp:revision>
  <dcterms:created xsi:type="dcterms:W3CDTF">2025-12-10T01:28:44Z</dcterms:created>
  <dcterms:modified xsi:type="dcterms:W3CDTF">2025-12-10T01:28:44Z</dcterms:modified>
</cp:coreProperties>
</file>